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252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E31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흐름 시나리오 (v3_up)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694944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화면을 사용 순서대로 — 빨간 테두리 = 신규 화면, 번호 = 수정사항 1~9 (등장 순서 · 8p 총정리)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" y="1133856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051560" y="1133856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152144"/>
            <a:ext cx="141732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51560" y="14173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651760" y="1133856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152144"/>
            <a:ext cx="141732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회원가입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51760" y="14173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완료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251960" y="1133856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51960" y="1152144"/>
            <a:ext cx="141732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인적사항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51960" y="14173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· 수정 1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852160" y="1133856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0" y="1152144"/>
            <a:ext cx="141732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52160" y="14173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카드 · 수정 6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452360" y="1133856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52360" y="1152144"/>
            <a:ext cx="141732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대화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52360" y="141732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 · 수정 3 8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487168" y="1385316"/>
            <a:ext cx="12801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087368" y="1385316"/>
            <a:ext cx="12801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687568" y="1385316"/>
            <a:ext cx="12801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87768" y="1385316"/>
            <a:ext cx="12801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09728" y="2249424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문진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(수정 2)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51560" y="2249424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2267712"/>
            <a:ext cx="141732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중 (RAG)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051560" y="25328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화면 내 로딩 · 백그라운드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651760" y="2249424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2267712"/>
            <a:ext cx="141732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구조화 문진 1종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651760" y="25328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9CA3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top1 · PHQ-9 또는 GAD-7 · 수정 2 4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251960" y="2249424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2249424"/>
            <a:ext cx="1417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확인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852160" y="2249424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2249424"/>
            <a:ext cx="1417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상태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452360" y="2249424"/>
            <a:ext cx="141732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52360" y="2267712"/>
            <a:ext cx="141732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기록·리포트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452360" y="25328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카드로 진입 · 수정 7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487168" y="2500884"/>
            <a:ext cx="12801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087368" y="2500884"/>
            <a:ext cx="12801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687568" y="2500884"/>
            <a:ext cx="12801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7287768" y="2500884"/>
            <a:ext cx="128016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161020" y="1655064"/>
            <a:ext cx="0" cy="393192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1760220" y="2048256"/>
            <a:ext cx="640080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760220" y="2048256"/>
            <a:ext cx="0" cy="173736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1920240" y="1920240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종료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1051560" y="281635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PHQ-9/GAD-7을 순차로 모두 하지 않음 — RAG 추정 top1 질환의 도구 1종으로 바로 진입 (안내 화면 없음, 추정 결과는 라우팅에만 사용)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09728" y="3218688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분기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1051560" y="3218688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51560" y="3236976"/>
            <a:ext cx="242316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확인 창 → 응급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051560" y="350215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대화·문진 중 위험 감지 시 · 수정 3 4 5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703320" y="3218688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703320" y="3236976"/>
            <a:ext cx="242316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결과 확인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3703320" y="350215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[+] 첨부 시 · 수정 8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355080" y="3218688"/>
            <a:ext cx="2423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3236976"/>
            <a:ext cx="242316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찾기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355080" y="350215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탭 · 수정 9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548640" y="3977640"/>
            <a:ext cx="8046720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1520" y="40507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범례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77240" y="4379976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325880" y="4361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· 구현 완료 — 변경 없이 유지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3977640" y="4379976"/>
            <a:ext cx="45720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26280" y="43616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요청 신규 화면 (P0 데모 필수 · P1 완성도 · P2 병행)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828800" y="4069080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66" name="Text 64"/>
          <p:cNvSpPr/>
          <p:nvPr/>
        </p:nvSpPr>
        <p:spPr>
          <a:xfrm>
            <a:off x="1828800" y="40645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2103120" y="403250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화면 안에 새로 들어가는 요소 · 박스 아래 숫자 = 수정사항 번호 (2~6p 사용 순서대로 상세, 7p 연결도, 8p 총정리)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E31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— 온보딩 · 회원가입 · 인적사항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694944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온보딩·로그인·회원가입은 구현 완료 — 가입 직후 인적사항(수정 1)만 신규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pic>
        <p:nvPicPr>
          <p:cNvPr id="6" name="Image 0" descr="C:\Users\NeuroAI_laptop7\AppData\Local\Temp\claude\C--Users-NeuroAI-laptop7-clinical-agent-workspace-neurosync\51c41655-dc5a-4bbe-9277-272561ecbbcd\scratchpad\mockups\onboar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1499616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234440"/>
            <a:ext cx="1499616" cy="32461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8" name="Image 1" descr="C:\Users\NeuroAI_laptop7\AppData\Local\Temp\claude\C--Users-NeuroAI-laptop7-clinical-agent-workspace-neurosync\51c41655-dc5a-4bbe-9277-272561ecbbcd\scratchpad\mockups\regis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234440"/>
            <a:ext cx="1499616" cy="32461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0" y="1234440"/>
            <a:ext cx="1499616" cy="32461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0" name="Image 2" descr="C:\Users\NeuroAI_laptop7\AppData\Local\Temp\claude\C--Users-NeuroAI-laptop7-clinical-agent-workspace-neurosync\51c41655-dc5a-4bbe-9277-272561ecbbcd\scratchpad\mockups\int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1234440"/>
            <a:ext cx="1499616" cy="32461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4114800" y="1234440"/>
            <a:ext cx="1499616" cy="32461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069080" y="1188720"/>
            <a:ext cx="1591056" cy="3337560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DC2626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5047488" y="1078992"/>
            <a:ext cx="658368" cy="237744"/>
          </a:xfrm>
          <a:prstGeom prst="roundRect">
            <a:avLst>
              <a:gd name="adj" fmla="val 38462"/>
            </a:avLst>
          </a:prstGeom>
          <a:solidFill>
            <a:srgbClr val="DC2626"/>
          </a:solidFill>
          <a:ln/>
        </p:spPr>
      </p:sp>
      <p:sp>
        <p:nvSpPr>
          <p:cNvPr id="14" name="Text 9"/>
          <p:cNvSpPr/>
          <p:nvPr/>
        </p:nvSpPr>
        <p:spPr>
          <a:xfrm>
            <a:off x="5047488" y="10789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화면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3986784" y="110642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1"/>
          <p:cNvSpPr/>
          <p:nvPr/>
        </p:nvSpPr>
        <p:spPr>
          <a:xfrm>
            <a:off x="3986784" y="11018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274320" y="4572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(구현 완료)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2103120" y="4572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회원가입 · 동의 (구현 완료)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3931920" y="4572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인적사항 (신규)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011680" y="2880360"/>
            <a:ext cx="20116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943600" y="1188720"/>
            <a:ext cx="2926080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126480" y="12618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 흐름 (변경 없음)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6126480" y="1572768"/>
            <a:ext cx="25603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온보딩(비진단 고지 포함) → 로그인·회원가입(4개 동의 분리)은 구현 완료. 가입 완료 직후 인적사항 화면으로 이동한다.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943600" y="2697480"/>
            <a:ext cx="2926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071616" y="2798064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Text 22"/>
          <p:cNvSpPr/>
          <p:nvPr/>
        </p:nvSpPr>
        <p:spPr>
          <a:xfrm>
            <a:off x="6071616" y="27934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437376" y="2779776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인적사항 입력</a:t>
            </a: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P2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6144768" y="3118104"/>
            <a:ext cx="25420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생년월일·성별·거주지역·혼인·동거·학력·직업·고용·소득·종교 10개 항목. 드롭다운/칩 선택, [다음] → 홈.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6144768" y="4160520"/>
            <a:ext cx="2523744" cy="256032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31" name="Text 26"/>
          <p:cNvSpPr/>
          <p:nvPr/>
        </p:nvSpPr>
        <p:spPr>
          <a:xfrm>
            <a:off x="6236208" y="41605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신규 · 프로필 저장 API·컬럼 신설 필요</a:t>
            </a:r>
            <a:endParaRPr lang="en-US" sz="850" dirty="0"/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A5883361-C1CB-410A-81BC-EEA3E939DFD6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3574474" y="2857500"/>
            <a:ext cx="494606" cy="1139004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E31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대화 → 구조화 문진 (수정 2)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694944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종료 → RAG 질환 추정(백그라운드) → top1 문진 1종으로 바로 진입 — 안내 화면 없음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pic>
        <p:nvPicPr>
          <p:cNvPr id="6" name="Image 0" descr="C:\Users\NeuroAI_laptop7\AppData\Local\Temp\claude\C--Users-NeuroAI-laptop7-clinical-agent-workspace-neurosync\51c41655-dc5a-4bbe-9277-272561ecbbcd\scratchpad\ref_unpacked\ppt\media\image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1499616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234440"/>
            <a:ext cx="1499616" cy="32461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8" name="Image 1" descr="C:\Users\NeuroAI_laptop7\AppData\Local\Temp\claude\C--Users-NeuroAI-laptop7-clinical-agent-workspace-neurosync\51c41655-dc5a-4bbe-9277-272561ecbbcd\scratchpad\ref_unpacked\ppt\media\image4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234440"/>
            <a:ext cx="1499616" cy="32461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651760" y="1234440"/>
            <a:ext cx="1499616" cy="32461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57200" y="4572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대화 (기존)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2468880" y="4572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top1 문진 1종 (기존 화면)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30057" y="2597810"/>
            <a:ext cx="1319662" cy="421996"/>
          </a:xfrm>
          <a:prstGeom prst="roundRect">
            <a:avLst>
              <a:gd name="adj" fmla="val 6501"/>
            </a:avLst>
          </a:prstGeom>
          <a:solidFill>
            <a:srgbClr val="FEF2F2">
              <a:alpha val="45000"/>
            </a:srgbClr>
          </a:solidFill>
          <a:ln w="22225">
            <a:solidFill>
              <a:srgbClr val="DC2626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620329" y="2488082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0"/>
          <p:cNvSpPr/>
          <p:nvPr/>
        </p:nvSpPr>
        <p:spPr>
          <a:xfrm>
            <a:off x="620329" y="248351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748345" y="2597810"/>
            <a:ext cx="1283086" cy="421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'분석 중' 로딩 상태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2696748" y="1396746"/>
            <a:ext cx="1004743" cy="275920"/>
          </a:xfrm>
          <a:prstGeom prst="roundRect">
            <a:avLst>
              <a:gd name="adj" fmla="val 9942"/>
            </a:avLst>
          </a:prstGeom>
          <a:solidFill>
            <a:srgbClr val="FEF2F2">
              <a:alpha val="45000"/>
            </a:srgbClr>
          </a:solidFill>
          <a:ln w="22225">
            <a:solidFill>
              <a:srgbClr val="DC2626"/>
            </a:solidFill>
            <a:prstDash val="dash"/>
          </a:ln>
        </p:spPr>
      </p:sp>
      <p:sp>
        <p:nvSpPr>
          <p:cNvPr id="17" name="Text 13"/>
          <p:cNvSpPr/>
          <p:nvPr/>
        </p:nvSpPr>
        <p:spPr>
          <a:xfrm>
            <a:off x="2715036" y="1396746"/>
            <a:ext cx="968167" cy="27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문진 1/1 · 도구명만 표시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2212848" y="2880360"/>
            <a:ext cx="384048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9" name="Text 15"/>
          <p:cNvSpPr/>
          <p:nvPr/>
        </p:nvSpPr>
        <p:spPr>
          <a:xfrm>
            <a:off x="1764792" y="26243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top1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434840" y="1188720"/>
            <a:ext cx="44348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562856" y="1289304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2" name="Text 18"/>
          <p:cNvSpPr/>
          <p:nvPr/>
        </p:nvSpPr>
        <p:spPr>
          <a:xfrm>
            <a:off x="4562856" y="12847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928616" y="1271016"/>
            <a:ext cx="3849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문진 파이프라인 변경</a:t>
            </a: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P0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636008" y="1609344"/>
            <a:ext cx="40507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기존: 대화 → PHQ-9 → GAD-7 고정 순차 (오류). 변경: 대화 종료 시 RAG 질환 추정을 백그라운드로 돌리고 top1 질환의 문진 1종으로 바로 진입.</a:t>
            </a:r>
            <a:endParaRPr lang="en-US" sz="10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매핑: 우울→PHQ-9 · 불안→GAD-7 · 음주→AUDIT-C · 저신뢰→PHQ-4(협의). 문진 화면은 문항 주입형 공통 컴포넌트, 진행 표기 “문진 1/1”.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636008" y="2743200"/>
            <a:ext cx="4032504" cy="256032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26" name="Text 22"/>
          <p:cNvSpPr/>
          <p:nvPr/>
        </p:nvSpPr>
        <p:spPr>
          <a:xfrm>
            <a:off x="4727448" y="274320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/ai/domain/infer (F2 완료) · 플랫폼 프록시 필요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E31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확인 · 응급 (수정 3 · 4 · 5)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694944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대화·문진 공통 확인 창 컴포넌트 — 에이전트 수정 없이 클라이언트 표시, 의사 확인 후 분기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pic>
        <p:nvPicPr>
          <p:cNvPr id="6" name="Image 0" descr="C:\Users\NeuroAI_laptop7\AppData\Local\Temp\claude\C--Users-NeuroAI-laptop7-clinical-agent-workspace-neurosync\51c41655-dc5a-4bbe-9277-272561ecbbcd\scratchpad\mockups\risk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1499616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234440"/>
            <a:ext cx="1499616" cy="32461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3" name="Image 1" descr="C:\Users\NeuroAI_laptop7\AppData\Local\Temp\claude\C--Users-NeuroAI-laptop7-clinical-agent-workspace-neurosync\51c41655-dc5a-4bbe-9277-272561ecbbcd\scratchpad\mockups\phq9_g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234440"/>
            <a:ext cx="1499616" cy="32461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286000" y="1234440"/>
            <a:ext cx="1499616" cy="32461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17" name="Image 2" descr="C:\Users\NeuroAI_laptop7\AppData\Local\Temp\claude\C--Users-NeuroAI-laptop7-clinical-agent-workspace-neurosync\51c41655-dc5a-4bbe-9277-272561ecbbcd\scratchpad\mockups\emergenc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1234440"/>
            <a:ext cx="1499616" cy="32461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114800" y="1234440"/>
            <a:ext cx="1499616" cy="32461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069080" y="1188720"/>
            <a:ext cx="1591056" cy="3337560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DC262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47488" y="1078992"/>
            <a:ext cx="658368" cy="237744"/>
          </a:xfrm>
          <a:prstGeom prst="roundRect">
            <a:avLst>
              <a:gd name="adj" fmla="val 38462"/>
            </a:avLst>
          </a:prstGeom>
          <a:solidFill>
            <a:srgbClr val="DC2626"/>
          </a:solidFill>
          <a:ln/>
        </p:spPr>
      </p:sp>
      <p:sp>
        <p:nvSpPr>
          <p:cNvPr id="21" name="Text 16"/>
          <p:cNvSpPr/>
          <p:nvPr/>
        </p:nvSpPr>
        <p:spPr>
          <a:xfrm>
            <a:off x="5047488" y="10789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화면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3986784" y="110642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Text 18"/>
          <p:cNvSpPr/>
          <p:nvPr/>
        </p:nvSpPr>
        <p:spPr>
          <a:xfrm>
            <a:off x="3986784" y="11018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274320" y="4572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중 위험 확인 창 (</a:t>
            </a:r>
            <a:r>
              <a:rPr lang="ko-KR" alt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</a:t>
            </a: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2103120" y="4572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문진 자살 문항 카드 (요소)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3931920" y="4572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 안전 화면 (신규)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2345985" y="2435504"/>
            <a:ext cx="1379647" cy="957605"/>
          </a:xfrm>
          <a:prstGeom prst="roundRect">
            <a:avLst>
              <a:gd name="adj" fmla="val 2865"/>
            </a:avLst>
          </a:prstGeom>
          <a:solidFill>
            <a:srgbClr val="FFFFFF">
              <a:alpha val="0"/>
            </a:srgbClr>
          </a:solidFill>
          <a:ln w="22225">
            <a:solidFill>
              <a:srgbClr val="DC2626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943600" y="1170432"/>
            <a:ext cx="292608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071616" y="1271016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5"/>
          <p:cNvSpPr/>
          <p:nvPr/>
        </p:nvSpPr>
        <p:spPr>
          <a:xfrm>
            <a:off x="6071616" y="12664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437376" y="1252728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중 위험 확인 창</a:t>
            </a: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P0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144768" y="1591056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 risk:detected 수신 시 클라이언트가 확인 창 표시 — 에이전트 수정 불필요.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144768" y="2011680"/>
            <a:ext cx="2523744" cy="256032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34" name="Text 29"/>
          <p:cNvSpPr/>
          <p:nvPr/>
        </p:nvSpPr>
        <p:spPr>
          <a:xfrm>
            <a:off x="6236208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chat.tsx · WS risk:detected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5943600" y="2432304"/>
            <a:ext cx="292608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071616" y="253288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7" name="Text 32"/>
          <p:cNvSpPr/>
          <p:nvPr/>
        </p:nvSpPr>
        <p:spPr>
          <a:xfrm>
            <a:off x="6071616" y="25283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437376" y="2514600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문진 자살 문항 카드</a:t>
            </a: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P0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6144768" y="2852928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9번 양성 응답 시 같은 컴포넌트를 문항 아래 표시. 응답 저장, 설문 계속 가능.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6144768" y="3273552"/>
            <a:ext cx="2523744" cy="256032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41" name="Text 36"/>
          <p:cNvSpPr/>
          <p:nvPr/>
        </p:nvSpPr>
        <p:spPr>
          <a:xfrm>
            <a:off x="6236208" y="32735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phq9.tsx · PATCH /risk_events/:id</a:t>
            </a: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5943600" y="3694176"/>
            <a:ext cx="2926080" cy="1207008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43" name="Shape 38"/>
          <p:cNvSpPr/>
          <p:nvPr/>
        </p:nvSpPr>
        <p:spPr>
          <a:xfrm>
            <a:off x="6071616" y="379476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4" name="Text 39"/>
          <p:cNvSpPr/>
          <p:nvPr/>
        </p:nvSpPr>
        <p:spPr>
          <a:xfrm>
            <a:off x="6071616" y="37901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45" name="Text 40"/>
          <p:cNvSpPr/>
          <p:nvPr/>
        </p:nvSpPr>
        <p:spPr>
          <a:xfrm>
            <a:off x="6437376" y="3776472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 안전 화면</a:t>
            </a: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P0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6144768" y="411480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[도움 받기] 선택 시에만 진입. 109/119/112 · 안전 확인 기록 · 복귀 링크.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6144768" y="4535424"/>
            <a:ext cx="2523744" cy="256032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48" name="Text 43"/>
          <p:cNvSpPr/>
          <p:nvPr/>
        </p:nvSpPr>
        <p:spPr>
          <a:xfrm>
            <a:off x="6236208" y="45354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emergency.tsx · PATCH /risk_events/:id</a:t>
            </a:r>
            <a:endParaRPr lang="en-US" sz="850" dirty="0"/>
          </a:p>
        </p:txBody>
      </p:sp>
      <p:sp>
        <p:nvSpPr>
          <p:cNvPr id="49" name="Shape 22">
            <a:extLst>
              <a:ext uri="{FF2B5EF4-FFF2-40B4-BE49-F238E27FC236}">
                <a16:creationId xmlns:a16="http://schemas.microsoft.com/office/drawing/2014/main" id="{C5DF4242-5DB1-4F42-BAAE-4450B08E2D29}"/>
              </a:ext>
            </a:extLst>
          </p:cNvPr>
          <p:cNvSpPr/>
          <p:nvPr/>
        </p:nvSpPr>
        <p:spPr>
          <a:xfrm>
            <a:off x="530352" y="2319261"/>
            <a:ext cx="1354202" cy="1073848"/>
          </a:xfrm>
          <a:prstGeom prst="roundRect">
            <a:avLst>
              <a:gd name="adj" fmla="val 2865"/>
            </a:avLst>
          </a:prstGeom>
          <a:solidFill>
            <a:srgbClr val="FFFFFF">
              <a:alpha val="0"/>
            </a:srgbClr>
          </a:solidFill>
          <a:ln w="22225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8"/>
          <p:cNvSpPr/>
          <p:nvPr/>
        </p:nvSpPr>
        <p:spPr>
          <a:xfrm>
            <a:off x="408347" y="219227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9"/>
          <p:cNvSpPr/>
          <p:nvPr/>
        </p:nvSpPr>
        <p:spPr>
          <a:xfrm>
            <a:off x="408347" y="218770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00187" y="229947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2200187" y="2294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A1270F60-D778-4AA2-B7F4-E069708DBFD0}"/>
              </a:ext>
            </a:extLst>
          </p:cNvPr>
          <p:cNvCxnSpPr>
            <a:cxnSpLocks/>
          </p:cNvCxnSpPr>
          <p:nvPr/>
        </p:nvCxnSpPr>
        <p:spPr>
          <a:xfrm flipV="1">
            <a:off x="1566629" y="2377440"/>
            <a:ext cx="2502451" cy="425196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0BA879E0-DC81-48D3-B364-F99BFD302E53}"/>
              </a:ext>
            </a:extLst>
          </p:cNvPr>
          <p:cNvCxnSpPr>
            <a:cxnSpLocks/>
          </p:cNvCxnSpPr>
          <p:nvPr/>
        </p:nvCxnSpPr>
        <p:spPr>
          <a:xfrm flipV="1">
            <a:off x="3427401" y="2377440"/>
            <a:ext cx="641679" cy="47548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E31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기록 · 리포트 (수정 6 · 7)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694944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카드 통합 + 열람·수정 후 수동 전달 (자동 전송 없음) · 상태 3단계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pic>
        <p:nvPicPr>
          <p:cNvPr id="6" name="Image 0" descr="C:\Users\NeuroAI_laptop7\AppData\Local\Temp\claude\C--Users-NeuroAI-laptop7-clinical-agent-workspace-neurosync\51c41655-dc5a-4bbe-9277-272561ecbbcd\scratchpad\ref_unpacked\ppt\media\image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07008"/>
            <a:ext cx="1499616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1207008"/>
            <a:ext cx="1499616" cy="32461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8" name="Image 1" descr="C:\Users\NeuroAI_laptop7\AppData\Local\Temp\claude\C--Users-NeuroAI-laptop7-clinical-agent-workspace-neurosync\51c41655-dc5a-4bbe-9277-272561ecbbcd\scratchpad\mockups\his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207008"/>
            <a:ext cx="1499616" cy="32461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377440" y="1207008"/>
            <a:ext cx="1499616" cy="32461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331720" y="1161288"/>
            <a:ext cx="1591056" cy="3337560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DC262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310128" y="1051560"/>
            <a:ext cx="658368" cy="237744"/>
          </a:xfrm>
          <a:prstGeom prst="roundRect">
            <a:avLst>
              <a:gd name="adj" fmla="val 38462"/>
            </a:avLst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3310128" y="1051560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화면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249424" y="107899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0"/>
          <p:cNvSpPr/>
          <p:nvPr/>
        </p:nvSpPr>
        <p:spPr>
          <a:xfrm>
            <a:off x="2249424" y="10744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320040" y="45445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화면 (기존)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2194560" y="454456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기록·리포트 (신규)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62905" y="3349447"/>
            <a:ext cx="1379647" cy="681685"/>
          </a:xfrm>
          <a:prstGeom prst="roundRect">
            <a:avLst>
              <a:gd name="adj" fmla="val 4024"/>
            </a:avLst>
          </a:prstGeom>
          <a:solidFill>
            <a:srgbClr val="FEF2F2">
              <a:alpha val="45000"/>
            </a:srgbClr>
          </a:solidFill>
          <a:ln w="22225">
            <a:solidFill>
              <a:srgbClr val="DC2626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453177" y="3239719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9" name="Text 15"/>
          <p:cNvSpPr/>
          <p:nvPr/>
        </p:nvSpPr>
        <p:spPr>
          <a:xfrm>
            <a:off x="453177" y="32351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581193" y="3349447"/>
            <a:ext cx="1343071" cy="6816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기록 · 리포트 카드 (통합)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4224528" y="1234440"/>
            <a:ext cx="461772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352544" y="1335024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Text 19"/>
          <p:cNvSpPr/>
          <p:nvPr/>
        </p:nvSpPr>
        <p:spPr>
          <a:xfrm>
            <a:off x="4352544" y="13304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718304" y="1316736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· 지난 기록·리포트 통합 카드</a:t>
            </a:r>
            <a:r>
              <a:rPr lang="en-US" sz="1050" b="1" dirty="0">
                <a:solidFill>
                  <a:srgbClr val="2E31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P1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425696" y="1655064"/>
            <a:ext cx="4233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제출 빈도가 낮아 두 카드를 하나로 통합. 상태는 미작성 / 전달됨 / 임상의 검토 완료 3단계 배지. 탭하면 기록·리포트 화면으로.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4425696" y="2350008"/>
            <a:ext cx="4215384" cy="256032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27" name="Text 23"/>
          <p:cNvSpPr/>
          <p:nvPr/>
        </p:nvSpPr>
        <p:spPr>
          <a:xfrm>
            <a:off x="4517136" y="2350008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home.tsx · GET /sessions/:id/report/status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4224528" y="2843784"/>
            <a:ext cx="4617720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4352544" y="294436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4352544" y="29397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718304" y="2926080"/>
            <a:ext cx="4032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지난 기록·리포트 화면</a:t>
            </a: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P2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4425696" y="3264408"/>
            <a:ext cx="423367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점수 추이 차트(F4) + 문진 이력. 기록 탭 → PDF/열람 창, [전달하기] → 전달됨. 리포트는 자동 전송하지 않고 환자가 수정 후 전달(F5).</a:t>
            </a:r>
            <a:endParaRPr lang="en-US" sz="1050" dirty="0"/>
          </a:p>
        </p:txBody>
      </p:sp>
      <p:sp>
        <p:nvSpPr>
          <p:cNvPr id="33" name="Shape 29"/>
          <p:cNvSpPr/>
          <p:nvPr/>
        </p:nvSpPr>
        <p:spPr>
          <a:xfrm>
            <a:off x="4425696" y="3959352"/>
            <a:ext cx="4215384" cy="256032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34" name="Text 30"/>
          <p:cNvSpPr/>
          <p:nvPr/>
        </p:nvSpPr>
        <p:spPr>
          <a:xfrm>
            <a:off x="4517136" y="3959352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신규 · /ai/temporal/summarize · submit 정책 변경</a:t>
            </a:r>
            <a:endParaRPr lang="en-US" sz="850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CF5C4BD-8252-4741-8EFA-9523037D18D1}"/>
              </a:ext>
            </a:extLst>
          </p:cNvPr>
          <p:cNvCxnSpPr>
            <a:cxnSpLocks/>
          </p:cNvCxnSpPr>
          <p:nvPr/>
        </p:nvCxnSpPr>
        <p:spPr>
          <a:xfrm flipV="1">
            <a:off x="1694517" y="2715768"/>
            <a:ext cx="637203" cy="79369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E31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첨부 OCR · 병원 찾기 (수정 8 · 9)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694944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OCR은 대화 [+] 첨부로만 진입 (사전 문진 단계에서 제거) · 병원 찾기는 독립 탭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pic>
        <p:nvPicPr>
          <p:cNvPr id="6" name="Image 0" descr="C:\Users\NeuroAI_laptop7\AppData\Local\Temp\claude\C--Users-NeuroAI-laptop7-clinical-agent-workspace-neurosync\51c41655-dc5a-4bbe-9277-272561ecbbcd\scratchpad\ref_unpacked\ppt\media\image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1499616" cy="3246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234440"/>
            <a:ext cx="1499616" cy="32461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pic>
        <p:nvPicPr>
          <p:cNvPr id="8" name="Image 1" descr="C:\Users\NeuroAI_laptop7\AppData\Local\Temp\claude\C--Users-NeuroAI-laptop7-clinical-agent-workspace-neurosync\51c41655-dc5a-4bbe-9277-272561ecbbcd\scratchpad\mockups\oc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1234440"/>
            <a:ext cx="1499616" cy="32461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2286000" y="1234440"/>
            <a:ext cx="1499616" cy="32461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240280" y="1188720"/>
            <a:ext cx="1591056" cy="3337560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DC2626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218688" y="1078992"/>
            <a:ext cx="658368" cy="237744"/>
          </a:xfrm>
          <a:prstGeom prst="roundRect">
            <a:avLst>
              <a:gd name="adj" fmla="val 38462"/>
            </a:avLst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3218688" y="10789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화면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157984" y="110642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0"/>
          <p:cNvSpPr/>
          <p:nvPr/>
        </p:nvSpPr>
        <p:spPr>
          <a:xfrm>
            <a:off x="2157984" y="11018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pic>
        <p:nvPicPr>
          <p:cNvPr id="15" name="Image 2" descr="C:\Users\NeuroAI_laptop7\AppData\Local\Temp\claude\C--Users-NeuroAI-laptop7-clinical-agent-workspace-neurosync\51c41655-dc5a-4bbe-9277-272561ecbbcd\scratchpad\mockups\hospital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1234440"/>
            <a:ext cx="1499616" cy="324612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4114800" y="1234440"/>
            <a:ext cx="1499616" cy="3246120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069080" y="1188720"/>
            <a:ext cx="1591056" cy="3337560"/>
          </a:xfrm>
          <a:prstGeom prst="rect">
            <a:avLst/>
          </a:prstGeom>
          <a:solidFill>
            <a:srgbClr val="FFFFFF">
              <a:alpha val="0"/>
            </a:srgbClr>
          </a:solidFill>
          <a:ln w="31750">
            <a:solidFill>
              <a:srgbClr val="DC2626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047488" y="1078992"/>
            <a:ext cx="658368" cy="237744"/>
          </a:xfrm>
          <a:prstGeom prst="roundRect">
            <a:avLst>
              <a:gd name="adj" fmla="val 38462"/>
            </a:avLst>
          </a:prstGeom>
          <a:solidFill>
            <a:srgbClr val="DC2626"/>
          </a:solidFill>
          <a:ln/>
        </p:spPr>
      </p:sp>
      <p:sp>
        <p:nvSpPr>
          <p:cNvPr id="19" name="Text 14"/>
          <p:cNvSpPr/>
          <p:nvPr/>
        </p:nvSpPr>
        <p:spPr>
          <a:xfrm>
            <a:off x="5047488" y="1078992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 화면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3986784" y="1106424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6"/>
          <p:cNvSpPr/>
          <p:nvPr/>
        </p:nvSpPr>
        <p:spPr>
          <a:xfrm>
            <a:off x="3986784" y="11018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274320" y="4572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 대화 (기존)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2103120" y="4572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결과 확인 (신규)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3931920" y="45720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찾기 (신규)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1127272" y="4139169"/>
            <a:ext cx="344912" cy="249951"/>
          </a:xfrm>
          <a:prstGeom prst="roundRect">
            <a:avLst>
              <a:gd name="adj" fmla="val 10975"/>
            </a:avLst>
          </a:prstGeom>
          <a:solidFill>
            <a:srgbClr val="FFFFFF">
              <a:alpha val="0"/>
            </a:srgbClr>
          </a:solidFill>
          <a:ln w="22225">
            <a:solidFill>
              <a:srgbClr val="DC262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1106584" y="299466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[+] 첨부</a:t>
            </a:r>
            <a:endParaRPr lang="en-US" sz="800" dirty="0"/>
          </a:p>
        </p:txBody>
      </p:sp>
      <p:sp>
        <p:nvSpPr>
          <p:cNvPr id="28" name="Shape 23"/>
          <p:cNvSpPr/>
          <p:nvPr/>
        </p:nvSpPr>
        <p:spPr>
          <a:xfrm>
            <a:off x="5943600" y="1188720"/>
            <a:ext cx="29260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6071616" y="1289304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5"/>
          <p:cNvSpPr/>
          <p:nvPr/>
        </p:nvSpPr>
        <p:spPr>
          <a:xfrm>
            <a:off x="6071616" y="12847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437376" y="1271016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첨부 → OCR 확인</a:t>
            </a: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P2</a:t>
            </a:r>
            <a:endParaRPr lang="en-US" sz="1200" dirty="0"/>
          </a:p>
        </p:txBody>
      </p:sp>
      <p:sp>
        <p:nvSpPr>
          <p:cNvPr id="32" name="Text 27"/>
          <p:cNvSpPr/>
          <p:nvPr/>
        </p:nvSpPr>
        <p:spPr>
          <a:xfrm>
            <a:off x="6144768" y="1609344"/>
            <a:ext cx="25420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처방약 언급 시 입력바 [+]로 촬영 → 추출 카드 검증·수정(“확인 필요” 빨간 배지) → [확인 완료] 시 대화 복귀. 진료기록 API 연동 시 OCR 생략.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6144768" y="2560320"/>
            <a:ext cx="2523744" cy="256032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34" name="Text 29"/>
          <p:cNvSpPr/>
          <p:nvPr/>
        </p:nvSpPr>
        <p:spPr>
          <a:xfrm>
            <a:off x="6236208" y="25603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chat.tsx [+] · /ai/ocr/parse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5943600" y="3063240"/>
            <a:ext cx="29260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blurRad="50800" dist="12700" dir="5400000" algn="bl" rotWithShape="0">
              <a:srgbClr val="94A3B8">
                <a:alpha val="25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6071616" y="3163824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7" name="Text 32"/>
          <p:cNvSpPr/>
          <p:nvPr/>
        </p:nvSpPr>
        <p:spPr>
          <a:xfrm>
            <a:off x="6071616" y="31592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6437376" y="3145536"/>
            <a:ext cx="2340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찾기</a:t>
            </a:r>
            <a:r>
              <a:rPr lang="en-US" sz="105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P2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6144768" y="3483864"/>
            <a:ext cx="25420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페이지(하단 탭). 지도+목록, 거리/운영시간 정렬. [전화]/[길찾기] → 외부 앱. CTRS 1–2에서는 119/109 안내 우선.</a:t>
            </a:r>
            <a:endParaRPr lang="en-US" sz="1050" dirty="0"/>
          </a:p>
        </p:txBody>
      </p:sp>
      <p:sp>
        <p:nvSpPr>
          <p:cNvPr id="40" name="Shape 35"/>
          <p:cNvSpPr/>
          <p:nvPr/>
        </p:nvSpPr>
        <p:spPr>
          <a:xfrm>
            <a:off x="6144768" y="4251960"/>
            <a:ext cx="2523744" cy="256032"/>
          </a:xfrm>
          <a:prstGeom prst="roundRect">
            <a:avLst>
              <a:gd name="adj" fmla="val 14286"/>
            </a:avLst>
          </a:prstGeom>
          <a:solidFill>
            <a:srgbClr val="F3F4F6"/>
          </a:solidFill>
          <a:ln/>
        </p:spPr>
      </p:sp>
      <p:sp>
        <p:nvSpPr>
          <p:cNvPr id="41" name="Text 36"/>
          <p:cNvSpPr/>
          <p:nvPr/>
        </p:nvSpPr>
        <p:spPr>
          <a:xfrm>
            <a:off x="6236208" y="4251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4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hospitals.tsx · /ai/nearby/hospitals</a:t>
            </a:r>
            <a:endParaRPr lang="en-US" sz="850" dirty="0"/>
          </a:p>
        </p:txBody>
      </p:sp>
      <p:sp>
        <p:nvSpPr>
          <p:cNvPr id="42" name="Shape 9">
            <a:extLst>
              <a:ext uri="{FF2B5EF4-FFF2-40B4-BE49-F238E27FC236}">
                <a16:creationId xmlns:a16="http://schemas.microsoft.com/office/drawing/2014/main" id="{2E173F00-0F38-42A6-83AD-A297FD0F84FE}"/>
              </a:ext>
            </a:extLst>
          </p:cNvPr>
          <p:cNvSpPr/>
          <p:nvPr/>
        </p:nvSpPr>
        <p:spPr>
          <a:xfrm>
            <a:off x="980968" y="399364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1FEF6F93-6469-4D9D-8D0D-EEAEAA520C82}"/>
              </a:ext>
            </a:extLst>
          </p:cNvPr>
          <p:cNvSpPr/>
          <p:nvPr/>
        </p:nvSpPr>
        <p:spPr>
          <a:xfrm>
            <a:off x="980968" y="398907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2FFB3A0D-8548-460B-8932-7F44DF96E5B8}"/>
              </a:ext>
            </a:extLst>
          </p:cNvPr>
          <p:cNvCxnSpPr>
            <a:endCxn id="10" idx="1"/>
          </p:cNvCxnSpPr>
          <p:nvPr/>
        </p:nvCxnSpPr>
        <p:spPr>
          <a:xfrm flipV="1">
            <a:off x="1472184" y="2857500"/>
            <a:ext cx="768096" cy="1281669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E31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연결도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694944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버튼·이벤트가 어느 화면으로 이어지는지 — 실선 = 진행, 점선 = 복귀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26060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783080" y="260604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2606040"/>
            <a:ext cx="1051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대화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2606040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2606040"/>
            <a:ext cx="13716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문진 (top1 1종)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20640" y="260604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0640" y="2606040"/>
            <a:ext cx="1051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 확인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29400" y="260604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587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606040"/>
            <a:ext cx="10515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상태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092440" y="260604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2606040"/>
            <a:ext cx="914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기록·리포트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344168" y="2834640"/>
            <a:ext cx="4114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09828" y="25603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시작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852928" y="2834640"/>
            <a:ext cx="4114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418588" y="25603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종료 · RAG 분석 2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681728" y="2834640"/>
            <a:ext cx="4114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247388" y="25603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제출하기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190488" y="2834640"/>
            <a:ext cx="41148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5756148" y="25603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7699248" y="2834640"/>
            <a:ext cx="36576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7242048" y="25603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 카드 6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286000" y="155448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DC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0" y="1554480"/>
            <a:ext cx="1280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확인 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 flipV="1">
            <a:off x="2651760" y="2011680"/>
            <a:ext cx="548640" cy="59436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3246120" y="2084832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[+] 첨부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 flipH="1">
            <a:off x="2057400" y="2011680"/>
            <a:ext cx="411480" cy="59436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1234440" y="2084832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완료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8092440" y="1554480"/>
            <a:ext cx="9144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92440" y="1554480"/>
            <a:ext cx="9144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병원 찾기 9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635240" y="133502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하단 탭 (독립 진입)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783080" y="3794760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783080" y="3794760"/>
            <a:ext cx="1554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확인 창 3·4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206240" y="3794760"/>
            <a:ext cx="1280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0" y="3794760"/>
            <a:ext cx="1280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응급 안전 5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818120" y="3794760"/>
            <a:ext cx="11887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18120" y="3794760"/>
            <a:ext cx="1188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리포트 전달됨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103120" y="3063240"/>
            <a:ext cx="137160" cy="73152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777240" y="33101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감지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 flipH="1">
            <a:off x="3108960" y="3063240"/>
            <a:ext cx="1051560" cy="73152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3520440" y="331012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9번 양성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355848" y="4023360"/>
            <a:ext cx="82296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3127248" y="37490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도움 받기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 flipV="1">
            <a:off x="1920240" y="3063240"/>
            <a:ext cx="0" cy="73152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  <a:tailEnd type="triangle"/>
          </a:ln>
        </p:spPr>
      </p:sp>
      <p:sp>
        <p:nvSpPr>
          <p:cNvPr id="50" name="Shape 48"/>
          <p:cNvSpPr/>
          <p:nvPr/>
        </p:nvSpPr>
        <p:spPr>
          <a:xfrm flipH="1" flipV="1">
            <a:off x="4389120" y="3063240"/>
            <a:ext cx="914400" cy="731520"/>
          </a:xfrm>
          <a:prstGeom prst="line">
            <a:avLst/>
          </a:prstGeom>
          <a:noFill/>
          <a:ln w="19050">
            <a:solidFill>
              <a:srgbClr val="9CA3AF"/>
            </a:solidFill>
            <a:prstDash val="dash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914400" y="443484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괜찮아요 / 안전해요 → 원래 화면 복귀 (점선)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 flipH="1">
            <a:off x="8412480" y="3063240"/>
            <a:ext cx="137160" cy="73152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7840980" y="350215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전달하기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212080" y="4434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미작성 → 전달됨 → 임상의 검토 완료 (상태 3단계)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2E31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수정사항 총정리 (1~9)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0" y="621792"/>
            <a:ext cx="9144000" cy="32004"/>
          </a:xfrm>
          <a:prstGeom prst="rect">
            <a:avLst/>
          </a:prstGeom>
          <a:solidFill>
            <a:srgbClr val="2E3192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694944"/>
            <a:ext cx="8869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등장 순서대로 번호 · F 매핑 = docs/AI_master_plan.md 기능 축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64108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503920" cy="2791968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#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수정사항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 (버튼 → 이동)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 매핑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우선순위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p.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1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인적사항 입력 (10개 항목, 가입 직후)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[다음] → 홈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 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문진 파이프라인 — RAG top1 문진 1종 바로 진입 (안내 화면 삭제)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 종료 → 분석 중 로딩 → top1 설문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F2·F3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 중 위험 확인 창 (문진과 동일 컴포넌트)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[도움 받기] → 응급 · [괜찮아요] → 대화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공통(안전)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문진 자살 문항(9번) 확인 카드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[도움 받기] → 응급 · [괜찮아요] → 다음 문항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F3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응급 안전 화면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[109/119/112] 전화 · [안전해요] → 이전 화면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공통(안전)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DC262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P0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홈 지난 기록·리포트 통합 카드 (상태 3단계)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탭 → 기록·리포트 화면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E319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P1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지난 기록·리포트 화면 (수동 전달)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 탭 → PDF 열람 · [전달하기] → 전달됨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F4·F5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대화 첨부 → OCR 결과 확인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[+] → 촬영 → OCR 확인 · [확인 완료] → 대화 복귀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 보조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병원 찾기 (독립 탭)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[전화]/[길찾기] → 외부 앱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Task 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P2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11182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2004" marR="32004" marT="32004" marB="32004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31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 </a:t>
            </a:r>
            <a:r>
              <a:rPr lang="en-US" sz="10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P0 4건(수정 2~5) 이번 주 착수 — 데모 시나리오 직결   2) P1(수정 6)은 리허설(W8) 전까지   3) P2 4건은 데모와 병행 — 백엔드 완료된 병원 찾기부터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 협의  </a:t>
            </a:r>
            <a:r>
              <a:rPr lang="en-US" sz="10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domain/temporal/ocr 플랫폼 프록시 · submit 수동 전달 플로우 · 인적사항 컬럼/프로필 API (상세: 부속 md 미결 섹션)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1385</Words>
  <Application>Microsoft Office PowerPoint</Application>
  <PresentationFormat>화면 슬라이드 쇼(16:9)</PresentationFormat>
  <Paragraphs>226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Malgun Gothic</vt:lpstr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지혁 김</cp:lastModifiedBy>
  <cp:revision>4</cp:revision>
  <dcterms:created xsi:type="dcterms:W3CDTF">2026-07-15T09:32:04Z</dcterms:created>
  <dcterms:modified xsi:type="dcterms:W3CDTF">2026-07-15T09:56:17Z</dcterms:modified>
</cp:coreProperties>
</file>